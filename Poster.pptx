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28803600" cy="4462272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40" userDrawn="1">
          <p15:clr>
            <a:srgbClr val="A4A3A4"/>
          </p15:clr>
        </p15:guide>
        <p15:guide id="2" pos="90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240" y="-6200"/>
      </p:cViewPr>
      <p:guideLst>
        <p:guide orient="horz" pos="14140"/>
        <p:guide pos="90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270" y="7302894"/>
            <a:ext cx="24483060" cy="15535428"/>
          </a:xfrm>
        </p:spPr>
        <p:txBody>
          <a:bodyPr anchor="b"/>
          <a:lstStyle>
            <a:lvl1pPr algn="ctr">
              <a:defRPr sz="18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450" y="23437428"/>
            <a:ext cx="21602700" cy="10773568"/>
          </a:xfrm>
        </p:spPr>
        <p:txBody>
          <a:bodyPr/>
          <a:lstStyle>
            <a:lvl1pPr marL="0" indent="0" algn="ctr">
              <a:buNone/>
              <a:defRPr sz="7560"/>
            </a:lvl1pPr>
            <a:lvl2pPr marL="1440180" indent="0" algn="ctr">
              <a:buNone/>
              <a:defRPr sz="6300"/>
            </a:lvl2pPr>
            <a:lvl3pPr marL="2880360" indent="0" algn="ctr">
              <a:buNone/>
              <a:defRPr sz="5670"/>
            </a:lvl3pPr>
            <a:lvl4pPr marL="4320540" indent="0" algn="ctr">
              <a:buNone/>
              <a:defRPr sz="5040"/>
            </a:lvl4pPr>
            <a:lvl5pPr marL="5760720" indent="0" algn="ctr">
              <a:buNone/>
              <a:defRPr sz="5040"/>
            </a:lvl5pPr>
            <a:lvl6pPr marL="7200900" indent="0" algn="ctr">
              <a:buNone/>
              <a:defRPr sz="5040"/>
            </a:lvl6pPr>
            <a:lvl7pPr marL="8641080" indent="0" algn="ctr">
              <a:buNone/>
              <a:defRPr sz="5040"/>
            </a:lvl7pPr>
            <a:lvl8pPr marL="10081260" indent="0" algn="ctr">
              <a:buNone/>
              <a:defRPr sz="5040"/>
            </a:lvl8pPr>
            <a:lvl9pPr marL="11521440" indent="0" algn="ctr">
              <a:buNone/>
              <a:defRPr sz="5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247" y="11124784"/>
            <a:ext cx="24843105" cy="18561941"/>
          </a:xfrm>
        </p:spPr>
        <p:txBody>
          <a:bodyPr anchor="b"/>
          <a:lstStyle>
            <a:lvl1pPr>
              <a:defRPr sz="18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247" y="29862329"/>
            <a:ext cx="24843105" cy="9761286"/>
          </a:xfrm>
        </p:spPr>
        <p:txBody>
          <a:bodyPr/>
          <a:lstStyle>
            <a:lvl1pPr marL="0" indent="0">
              <a:buNone/>
              <a:defRPr sz="7560">
                <a:solidFill>
                  <a:schemeClr val="tx1"/>
                </a:solidFill>
              </a:defRPr>
            </a:lvl1pPr>
            <a:lvl2pPr marL="144018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2pPr>
            <a:lvl3pPr marL="2880360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3pPr>
            <a:lvl4pPr marL="432054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72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9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108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126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144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248" y="11878818"/>
            <a:ext cx="12241530" cy="28312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1823" y="11878818"/>
            <a:ext cx="12241530" cy="28312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999" y="2375773"/>
            <a:ext cx="24843105" cy="86250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4002" y="10938845"/>
            <a:ext cx="12185271" cy="5360959"/>
          </a:xfrm>
        </p:spPr>
        <p:txBody>
          <a:bodyPr anchor="b"/>
          <a:lstStyle>
            <a:lvl1pPr marL="0" indent="0">
              <a:buNone/>
              <a:defRPr sz="7560" b="1"/>
            </a:lvl1pPr>
            <a:lvl2pPr marL="1440180" indent="0">
              <a:buNone/>
              <a:defRPr sz="6300" b="1"/>
            </a:lvl2pPr>
            <a:lvl3pPr marL="2880360" indent="0">
              <a:buNone/>
              <a:defRPr sz="5670" b="1"/>
            </a:lvl3pPr>
            <a:lvl4pPr marL="4320540" indent="0">
              <a:buNone/>
              <a:defRPr sz="5040" b="1"/>
            </a:lvl4pPr>
            <a:lvl5pPr marL="5760720" indent="0">
              <a:buNone/>
              <a:defRPr sz="5040" b="1"/>
            </a:lvl5pPr>
            <a:lvl6pPr marL="7200900" indent="0">
              <a:buNone/>
              <a:defRPr sz="5040" b="1"/>
            </a:lvl6pPr>
            <a:lvl7pPr marL="8641080" indent="0">
              <a:buNone/>
              <a:defRPr sz="5040" b="1"/>
            </a:lvl7pPr>
            <a:lvl8pPr marL="10081260" indent="0">
              <a:buNone/>
              <a:defRPr sz="5040" b="1"/>
            </a:lvl8pPr>
            <a:lvl9pPr marL="11521440" indent="0">
              <a:buNone/>
              <a:defRPr sz="504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4002" y="16299804"/>
            <a:ext cx="12185271" cy="23974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1824" y="10938845"/>
            <a:ext cx="12245282" cy="5360959"/>
          </a:xfrm>
        </p:spPr>
        <p:txBody>
          <a:bodyPr anchor="b"/>
          <a:lstStyle>
            <a:lvl1pPr marL="0" indent="0">
              <a:buNone/>
              <a:defRPr sz="7560" b="1"/>
            </a:lvl1pPr>
            <a:lvl2pPr marL="1440180" indent="0">
              <a:buNone/>
              <a:defRPr sz="6300" b="1"/>
            </a:lvl2pPr>
            <a:lvl3pPr marL="2880360" indent="0">
              <a:buNone/>
              <a:defRPr sz="5670" b="1"/>
            </a:lvl3pPr>
            <a:lvl4pPr marL="4320540" indent="0">
              <a:buNone/>
              <a:defRPr sz="5040" b="1"/>
            </a:lvl4pPr>
            <a:lvl5pPr marL="5760720" indent="0">
              <a:buNone/>
              <a:defRPr sz="5040" b="1"/>
            </a:lvl5pPr>
            <a:lvl6pPr marL="7200900" indent="0">
              <a:buNone/>
              <a:defRPr sz="5040" b="1"/>
            </a:lvl6pPr>
            <a:lvl7pPr marL="8641080" indent="0">
              <a:buNone/>
              <a:defRPr sz="5040" b="1"/>
            </a:lvl7pPr>
            <a:lvl8pPr marL="10081260" indent="0">
              <a:buNone/>
              <a:defRPr sz="5040" b="1"/>
            </a:lvl8pPr>
            <a:lvl9pPr marL="11521440" indent="0">
              <a:buNone/>
              <a:defRPr sz="504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1824" y="16299804"/>
            <a:ext cx="12245282" cy="23974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999" y="2974869"/>
            <a:ext cx="9289911" cy="10412042"/>
          </a:xfrm>
        </p:spPr>
        <p:txBody>
          <a:bodyPr anchor="b"/>
          <a:lstStyle>
            <a:lvl1pPr>
              <a:defRPr sz="10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5281" y="6424901"/>
            <a:ext cx="14581823" cy="31711279"/>
          </a:xfrm>
        </p:spPr>
        <p:txBody>
          <a:bodyPr/>
          <a:lstStyle>
            <a:lvl1pPr>
              <a:defRPr sz="10080"/>
            </a:lvl1pPr>
            <a:lvl2pPr>
              <a:defRPr sz="8820"/>
            </a:lvl2pPr>
            <a:lvl3pPr>
              <a:defRPr sz="756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999" y="13386912"/>
            <a:ext cx="9289911" cy="24800909"/>
          </a:xfrm>
        </p:spPr>
        <p:txBody>
          <a:bodyPr/>
          <a:lstStyle>
            <a:lvl1pPr marL="0" indent="0">
              <a:buNone/>
              <a:defRPr sz="5040"/>
            </a:lvl1pPr>
            <a:lvl2pPr marL="1440180" indent="0">
              <a:buNone/>
              <a:defRPr sz="4410"/>
            </a:lvl2pPr>
            <a:lvl3pPr marL="2880360" indent="0">
              <a:buNone/>
              <a:defRPr sz="3780"/>
            </a:lvl3pPr>
            <a:lvl4pPr marL="4320540" indent="0">
              <a:buNone/>
              <a:defRPr sz="3150"/>
            </a:lvl4pPr>
            <a:lvl5pPr marL="5760720" indent="0">
              <a:buNone/>
              <a:defRPr sz="3150"/>
            </a:lvl5pPr>
            <a:lvl6pPr marL="7200900" indent="0">
              <a:buNone/>
              <a:defRPr sz="3150"/>
            </a:lvl6pPr>
            <a:lvl7pPr marL="8641080" indent="0">
              <a:buNone/>
              <a:defRPr sz="3150"/>
            </a:lvl7pPr>
            <a:lvl8pPr marL="10081260" indent="0">
              <a:buNone/>
              <a:defRPr sz="3150"/>
            </a:lvl8pPr>
            <a:lvl9pPr marL="11521440" indent="0">
              <a:buNone/>
              <a:defRPr sz="31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999" y="2974869"/>
            <a:ext cx="9289911" cy="10412042"/>
          </a:xfrm>
        </p:spPr>
        <p:txBody>
          <a:bodyPr anchor="b"/>
          <a:lstStyle>
            <a:lvl1pPr>
              <a:defRPr sz="10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5281" y="6424901"/>
            <a:ext cx="14581823" cy="31711279"/>
          </a:xfrm>
        </p:spPr>
        <p:txBody>
          <a:bodyPr anchor="t"/>
          <a:lstStyle>
            <a:lvl1pPr marL="0" indent="0">
              <a:buNone/>
              <a:defRPr sz="10080"/>
            </a:lvl1pPr>
            <a:lvl2pPr marL="1440180" indent="0">
              <a:buNone/>
              <a:defRPr sz="8820"/>
            </a:lvl2pPr>
            <a:lvl3pPr marL="2880360" indent="0">
              <a:buNone/>
              <a:defRPr sz="7560"/>
            </a:lvl3pPr>
            <a:lvl4pPr marL="4320540" indent="0">
              <a:buNone/>
              <a:defRPr sz="6300"/>
            </a:lvl4pPr>
            <a:lvl5pPr marL="5760720" indent="0">
              <a:buNone/>
              <a:defRPr sz="6300"/>
            </a:lvl5pPr>
            <a:lvl6pPr marL="7200900" indent="0">
              <a:buNone/>
              <a:defRPr sz="6300"/>
            </a:lvl6pPr>
            <a:lvl7pPr marL="8641080" indent="0">
              <a:buNone/>
              <a:defRPr sz="6300"/>
            </a:lvl7pPr>
            <a:lvl8pPr marL="10081260" indent="0">
              <a:buNone/>
              <a:defRPr sz="6300"/>
            </a:lvl8pPr>
            <a:lvl9pPr marL="11521440" indent="0">
              <a:buNone/>
              <a:defRPr sz="6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999" y="13386912"/>
            <a:ext cx="9289911" cy="24800909"/>
          </a:xfrm>
        </p:spPr>
        <p:txBody>
          <a:bodyPr/>
          <a:lstStyle>
            <a:lvl1pPr marL="0" indent="0">
              <a:buNone/>
              <a:defRPr sz="5040"/>
            </a:lvl1pPr>
            <a:lvl2pPr marL="1440180" indent="0">
              <a:buNone/>
              <a:defRPr sz="4410"/>
            </a:lvl2pPr>
            <a:lvl3pPr marL="2880360" indent="0">
              <a:buNone/>
              <a:defRPr sz="3780"/>
            </a:lvl3pPr>
            <a:lvl4pPr marL="4320540" indent="0">
              <a:buNone/>
              <a:defRPr sz="3150"/>
            </a:lvl4pPr>
            <a:lvl5pPr marL="5760720" indent="0">
              <a:buNone/>
              <a:defRPr sz="3150"/>
            </a:lvl5pPr>
            <a:lvl6pPr marL="7200900" indent="0">
              <a:buNone/>
              <a:defRPr sz="3150"/>
            </a:lvl6pPr>
            <a:lvl7pPr marL="8641080" indent="0">
              <a:buNone/>
              <a:defRPr sz="3150"/>
            </a:lvl7pPr>
            <a:lvl8pPr marL="10081260" indent="0">
              <a:buNone/>
              <a:defRPr sz="3150"/>
            </a:lvl8pPr>
            <a:lvl9pPr marL="11521440" indent="0">
              <a:buNone/>
              <a:defRPr sz="31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2578" y="2375764"/>
            <a:ext cx="6210776" cy="37815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249" y="2375764"/>
            <a:ext cx="18272284" cy="37815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248" y="2375773"/>
            <a:ext cx="24843105" cy="8625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248" y="11878818"/>
            <a:ext cx="24843105" cy="28312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248" y="41358955"/>
            <a:ext cx="6480810" cy="2375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1193" y="41358955"/>
            <a:ext cx="9721215" cy="2375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2543" y="41358955"/>
            <a:ext cx="6480810" cy="2375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880360" rtl="0" eaLnBrk="1" latinLnBrk="0" hangingPunct="1">
        <a:lnSpc>
          <a:spcPct val="90000"/>
        </a:lnSpc>
        <a:spcBef>
          <a:spcPct val="0"/>
        </a:spcBef>
        <a:buNone/>
        <a:defRPr sz="13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90" indent="-720090" algn="l" defTabSz="2880360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2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3pPr>
      <a:lvl4pPr marL="504063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4pPr>
      <a:lvl5pPr marL="648081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6pPr>
      <a:lvl7pPr marL="936117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8pPr>
      <a:lvl9pPr marL="1224153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2pPr>
      <a:lvl3pPr marL="288036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6pPr>
      <a:lvl7pPr marL="864108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7pPr>
      <a:lvl8pPr marL="1008126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8pPr>
      <a:lvl9pPr marL="1152144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37946" y="6907926"/>
            <a:ext cx="25923875" cy="19685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28803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30000"/>
              </a:lnSpc>
            </a:pPr>
            <a:r>
              <a:rPr lang="vi-VN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QUẢN LÝ VÀ XÁC THỰC BẰNG </a:t>
            </a:r>
            <a:r>
              <a:rPr lang="vi-VN" alt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CẤP TRÊN NỀN TẢNG CÔNG NGHỆ</a:t>
            </a:r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BLOCKCHAIN</a:t>
            </a:r>
            <a:endParaRPr lang="en-US" sz="6000" b="1" dirty="0">
              <a:latin typeface="Times New Roman" panose="02020603050405020304" pitchFamily="18" charset="0"/>
              <a:ea typeface="Arial Unicode Bold"/>
              <a:cs typeface="Times New Roman" panose="02020603050405020304" pitchFamily="18" charset="0"/>
              <a:sym typeface="Arial Unicode Bold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01010" y="9137833"/>
            <a:ext cx="19256188" cy="5930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vi-V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Nguyễn Văn </a:t>
            </a:r>
            <a:r>
              <a:rPr lang="vi-VN" alt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Nghĩa</a:t>
            </a:r>
            <a:endParaRPr lang="vi-V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31460" y="9137681"/>
            <a:ext cx="19256188" cy="19685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i="1" dirty="0" err="1">
                <a:latin typeface="Arial" panose="020B0604020202020204" pitchFamily="34" charset="0"/>
                <a:cs typeface="Arial" panose="020B0604020202020204" pitchFamily="34" charset="0"/>
              </a:rPr>
              <a:t>Dainam</a:t>
            </a:r>
            <a:r>
              <a:rPr lang="en-US" sz="3200" i="1" dirty="0">
                <a:latin typeface="Arial" panose="020B0604020202020204" pitchFamily="34" charset="0"/>
                <a:cs typeface="Arial" panose="020B0604020202020204" pitchFamily="34" charset="0"/>
              </a:rPr>
              <a:t> University, Hanoi, Vietnam</a:t>
            </a:r>
            <a:endParaRPr lang="en-US" sz="3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Box 189"/>
          <p:cNvSpPr txBox="1">
            <a:spLocks noChangeArrowheads="1"/>
          </p:cNvSpPr>
          <p:nvPr/>
        </p:nvSpPr>
        <p:spPr bwMode="auto">
          <a:xfrm>
            <a:off x="510760" y="12738381"/>
            <a:ext cx="9074187" cy="7540781"/>
          </a:xfrm>
          <a:prstGeom prst="rect">
            <a:avLst/>
          </a:prstGeom>
          <a:solidFill>
            <a:schemeClr val="bg1"/>
          </a:solidFill>
          <a:ln w="57150">
            <a:solidFill>
              <a:srgbClr val="233F99"/>
            </a:solidFill>
          </a:ln>
          <a:effectLst/>
        </p:spPr>
        <p:txBody>
          <a:bodyPr wrap="square" lIns="173940" tIns="173940" rIns="173940" bIns="17394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indent="-4572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Trong kỷ nguyên số hóa giáo dục, vấn nạn gian lận và làm giả v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 bằng, chứng chỉ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ang ngày càng trở nên tinh vi, gây ảnh h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ởng nghiêm trọng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ến uy tín của các cơ sở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ào tạo và gây khó kh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 lớn cho các nhà tuyển dụng. Quy trình xác minh v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 bằng truyền thống hiện nay chủ yếu dựa trên giấy tờ vật l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ý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hoặc truy vấn thủ công qua hệ thống l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 trữ tập trung, dẫn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ến việc tốn kém thời gian, nhân lực và tiềm ẩn nguy cơ bị can thiệp, sửa 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ổi dữ liệu từ con ng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200" dirty="0">
                <a:latin typeface="Arial" panose="020B0604020202020204" pitchFamily="34" charset="0"/>
                <a:cs typeface="Arial" panose="020B0604020202020204" pitchFamily="34" charset="0"/>
              </a:rPr>
              <a:t>ời.</a:t>
            </a:r>
            <a:endParaRPr lang="en-US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10761" y="11659755"/>
            <a:ext cx="9074187" cy="964611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</a:t>
            </a:r>
            <a:r>
              <a:rPr lang="en-US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thiệu</a:t>
            </a:r>
            <a:endParaRPr lang="en-US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Box 194"/>
          <p:cNvSpPr txBox="1">
            <a:spLocks noChangeArrowheads="1"/>
          </p:cNvSpPr>
          <p:nvPr/>
        </p:nvSpPr>
        <p:spPr bwMode="auto">
          <a:xfrm>
            <a:off x="510540" y="21837015"/>
            <a:ext cx="13597255" cy="6541135"/>
          </a:xfrm>
          <a:prstGeom prst="rect">
            <a:avLst/>
          </a:prstGeom>
          <a:solidFill>
            <a:schemeClr val="bg1"/>
          </a:solidFill>
          <a:ln w="57150">
            <a:solidFill>
              <a:srgbClr val="233F99"/>
            </a:solidFill>
          </a:ln>
          <a:effectLst/>
        </p:spPr>
        <p:txBody>
          <a:bodyPr lIns="173940" tIns="173940" rIns="173940" bIns="17394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14350" indent="-514350" algn="l" eaLnBrk="1" hangingPunct="1">
              <a:buAutoNum type="arabicPeriod"/>
            </a:pP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Dashboard Số Liệu Thời Gian Thực: Tự 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ộng thống kê, cập nhật trực quan tổng số l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ợng v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n bằng 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ã phát hành, số chứng chỉ 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ang có hiệu lực thực tế và tổng l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ợt truy vấn 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ối soát từ cộng 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ồng.</a:t>
            </a:r>
            <a:endParaRPr lang="en-US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>
              <a:buAutoNum type="arabicPeriod"/>
            </a:pPr>
            <a:endParaRPr lang="en-US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>
              <a:buAutoNum type="arabicPeriod"/>
            </a:pP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Phân Quyền Quản Trị Chuẩn RBAC: Form cấp phát và tính n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ng thu hồi v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n bằng 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ợc bảo mật nghiêm ngặt bằng Smart Contract. Chỉ 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ịa chỉ ví Admin 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đư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ợc Whitelist (Nhà tr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ờng) mới có quyền thực thi giao dịch chuỗi.</a:t>
            </a:r>
            <a:endParaRPr lang="en-US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>
              <a:buAutoNum type="arabicPeriod"/>
            </a:pPr>
            <a:endParaRPr lang="en-US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 eaLnBrk="1" hangingPunct="1">
              <a:buAutoNum type="arabicPeriod"/>
            </a:pP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Cơ Chế Tự 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ộng B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 SHA-256: Hệ thống tự 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ộng biên dịch toàn bộ nội dung v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n bằng thô thành một chuỗi mã b</a:t>
            </a:r>
            <a:r>
              <a:rPr lang="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 mật mã học SHA-256 Hash duy nhất ngay trên giao diện, tạo bằng chứng số (On-chain Proof) bất biến.</a:t>
            </a:r>
            <a:endParaRPr lang="en-US" alt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/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/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/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11175" y="28768675"/>
            <a:ext cx="27870150" cy="1007110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endParaRPr lang="en-US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191"/>
          <p:cNvSpPr txBox="1">
            <a:spLocks noChangeArrowheads="1"/>
          </p:cNvSpPr>
          <p:nvPr/>
        </p:nvSpPr>
        <p:spPr bwMode="auto">
          <a:xfrm>
            <a:off x="511175" y="30031055"/>
            <a:ext cx="27870785" cy="10425430"/>
          </a:xfrm>
          <a:prstGeom prst="rect">
            <a:avLst/>
          </a:prstGeom>
          <a:solidFill>
            <a:schemeClr val="bg1"/>
          </a:solidFill>
          <a:ln w="57150">
            <a:solidFill>
              <a:srgbClr val="233F99"/>
            </a:solidFill>
          </a:ln>
          <a:effectLst/>
        </p:spPr>
        <p:txBody>
          <a:bodyPr lIns="173940" tIns="173940" rIns="173940" bIns="17394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/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/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/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/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eaLnBrk="1" hangingPunct="1"/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045022" y="11665207"/>
            <a:ext cx="18335070" cy="1002860"/>
          </a:xfrm>
          <a:prstGeom prst="rect">
            <a:avLst/>
          </a:prstGeom>
          <a:solidFill>
            <a:srgbClr val="233F99"/>
          </a:solidFill>
          <a:ln w="57150">
            <a:solidFill>
              <a:srgbClr val="233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Sơ</a:t>
            </a:r>
            <a:r>
              <a:rPr lang="en-US" sz="54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đồ</a:t>
            </a:r>
            <a:r>
              <a:rPr lang="en-US" sz="54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hệ</a:t>
            </a:r>
            <a:r>
              <a:rPr lang="en-US" sz="5400" b="1" dirty="0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thống</a:t>
            </a:r>
            <a:endParaRPr lang="en-US" sz="54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10540" y="20625435"/>
            <a:ext cx="13597255" cy="947420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 năng nổi bật</a:t>
            </a:r>
            <a:endParaRPr lang="en-US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10540" y="40696515"/>
            <a:ext cx="27870785" cy="958850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vi-VN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luận và </a:t>
            </a:r>
            <a:r>
              <a:rPr lang="en-US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vi-VN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ớng</a:t>
            </a:r>
            <a:r>
              <a:rPr lang="en-US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54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endParaRPr lang="en-US" sz="5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 Box 194"/>
          <p:cNvSpPr txBox="1">
            <a:spLocks noChangeArrowheads="1"/>
          </p:cNvSpPr>
          <p:nvPr/>
        </p:nvSpPr>
        <p:spPr bwMode="auto">
          <a:xfrm>
            <a:off x="509905" y="41656000"/>
            <a:ext cx="27872690" cy="2548890"/>
          </a:xfrm>
          <a:prstGeom prst="rect">
            <a:avLst/>
          </a:prstGeom>
          <a:solidFill>
            <a:schemeClr val="bg1"/>
          </a:solidFill>
          <a:ln w="57150">
            <a:solidFill>
              <a:srgbClr val="233F99"/>
            </a:solidFill>
          </a:ln>
          <a:effectLst/>
        </p:spPr>
        <p:txBody>
          <a:bodyPr lIns="173940" tIns="173940" rIns="173940" bIns="17394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="1" dirty="0">
                <a:cs typeface="Arial" panose="020B0604020202020204" pitchFamily="34" charset="0"/>
              </a:rPr>
              <a:t>Kết luận</a:t>
            </a:r>
            <a:r>
              <a:rPr lang="en-US" altLang="en-US" sz="3200" dirty="0">
                <a:cs typeface="Arial" panose="020B0604020202020204" pitchFamily="34" charset="0"/>
              </a:rPr>
              <a:t>: Hoàn thiện dApp CertChain bảo mật bằng mã hóa SHA-256, Soulbound Token và IPFS, giúp tối </a:t>
            </a:r>
            <a:r>
              <a:rPr lang="" altLang="en-US" sz="3200" dirty="0">
                <a:cs typeface="Arial" panose="020B0604020202020204" pitchFamily="34" charset="0"/>
              </a:rPr>
              <a:t>ư</a:t>
            </a:r>
            <a:r>
              <a:rPr lang="en-US" altLang="en-US" sz="3200" dirty="0">
                <a:cs typeface="Arial" panose="020B0604020202020204" pitchFamily="34" charset="0"/>
              </a:rPr>
              <a:t>u chi phí và chống làm giả v</a:t>
            </a:r>
            <a:r>
              <a:rPr lang="" altLang="en-US" sz="3200" dirty="0">
                <a:cs typeface="Arial" panose="020B0604020202020204" pitchFamily="34" charset="0"/>
              </a:rPr>
              <a:t>ă</a:t>
            </a:r>
            <a:r>
              <a:rPr lang="en-US" altLang="en-US" sz="3200" dirty="0">
                <a:cs typeface="Arial" panose="020B0604020202020204" pitchFamily="34" charset="0"/>
              </a:rPr>
              <a:t>n bằng tuyệt </a:t>
            </a:r>
            <a:r>
              <a:rPr lang="" altLang="en-US" sz="3200" dirty="0">
                <a:cs typeface="Arial" panose="020B0604020202020204" pitchFamily="34" charset="0"/>
              </a:rPr>
              <a:t>đ</a:t>
            </a:r>
            <a:r>
              <a:rPr lang="en-US" altLang="en-US" sz="3200" dirty="0">
                <a:cs typeface="Arial" panose="020B0604020202020204" pitchFamily="34" charset="0"/>
              </a:rPr>
              <a:t>ối.</a:t>
            </a:r>
            <a:endParaRPr lang="en-US" altLang="en-US" sz="3200" dirty="0">
              <a:cs typeface="Arial" panose="020B0604020202020204" pitchFamily="34" charset="0"/>
            </a:endParaRPr>
          </a:p>
          <a:p>
            <a:r>
              <a:rPr lang="en-US" altLang="en-US" sz="3200" b="1" dirty="0">
                <a:cs typeface="Arial" panose="020B0604020202020204" pitchFamily="34" charset="0"/>
              </a:rPr>
              <a:t>H</a:t>
            </a:r>
            <a:r>
              <a:rPr lang="" altLang="en-US" sz="3200" b="1" dirty="0">
                <a:cs typeface="Arial" panose="020B0604020202020204" pitchFamily="34" charset="0"/>
              </a:rPr>
              <a:t>ư</a:t>
            </a:r>
            <a:r>
              <a:rPr lang="en-US" altLang="en-US" sz="3200" b="1" dirty="0">
                <a:cs typeface="Arial" panose="020B0604020202020204" pitchFamily="34" charset="0"/>
              </a:rPr>
              <a:t>ớng phát triển:</a:t>
            </a:r>
            <a:r>
              <a:rPr lang="en-US" altLang="en-US" sz="3200" dirty="0">
                <a:cs typeface="Arial" panose="020B0604020202020204" pitchFamily="34" charset="0"/>
              </a:rPr>
              <a:t> Tích hợp công nghệ bảo mật ZKP bảo vệ thông tin cá nhân và mở rộng cổng API liên thông với các sàn tuyển dụng toàn cầu.</a:t>
            </a:r>
            <a:endParaRPr lang="en-US" altLang="en-US" sz="3200" dirty="0"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4402435" y="20625435"/>
            <a:ext cx="13978255" cy="947420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 err="1"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Công nghệ sử dụng</a:t>
            </a:r>
            <a:endParaRPr lang="en-US" sz="5400" b="1" dirty="0"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837570" y="10447245"/>
            <a:ext cx="123494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b="1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3600" dirty="0">
                <a:latin typeface="Arial" panose="020B0604020202020204" pitchFamily="34" charset="0"/>
                <a:cs typeface="Arial" panose="020B0604020202020204" pitchFamily="34" charset="0"/>
              </a:rPr>
              <a:t>https://github.com/nghia240/BTL_BLOCKCHAIN.git</a:t>
            </a:r>
            <a:endParaRPr lang="en-US" alt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744"/>
            <a:ext cx="28803600" cy="655653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373884" y="280631"/>
            <a:ext cx="949933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ĐẠI HỌC ĐẠI NAM</a:t>
            </a:r>
            <a:endParaRPr lang="en-US" sz="4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 CÔNG NGHỆ THÔNG TIN</a:t>
            </a:r>
            <a:endParaRPr lang="en-US" sz="48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 Box 194"/>
          <p:cNvSpPr txBox="1">
            <a:spLocks noChangeArrowheads="1"/>
          </p:cNvSpPr>
          <p:nvPr/>
        </p:nvSpPr>
        <p:spPr bwMode="auto">
          <a:xfrm>
            <a:off x="10045065" y="12746990"/>
            <a:ext cx="18335625" cy="7530465"/>
          </a:xfrm>
          <a:prstGeom prst="rect">
            <a:avLst/>
          </a:prstGeom>
          <a:solidFill>
            <a:schemeClr val="bg1"/>
          </a:solidFill>
          <a:ln w="57150">
            <a:solidFill>
              <a:srgbClr val="233F99"/>
            </a:solidFill>
          </a:ln>
          <a:effectLst/>
        </p:spPr>
        <p:txBody>
          <a:bodyPr lIns="173940" tIns="173940" rIns="173940" bIns="17394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sz="3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Text 28"/>
          <p:cNvSpPr/>
          <p:nvPr/>
        </p:nvSpPr>
        <p:spPr>
          <a:xfrm>
            <a:off x="21964650" y="22778085"/>
            <a:ext cx="5220335" cy="436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207" name="Text Box 206"/>
          <p:cNvSpPr txBox="1"/>
          <p:nvPr/>
        </p:nvSpPr>
        <p:spPr>
          <a:xfrm>
            <a:off x="723900" y="30395545"/>
            <a:ext cx="9029700" cy="5801360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Nội dung đạt được:</a:t>
            </a:r>
            <a:endParaRPr lang="en-US" sz="3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eaLnBrk="1" hangingPunct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 hóa quy trình: Tự </a:t>
            </a:r>
            <a:r>
              <a:rPr lang="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ộng hóa hoàn toàn khâu phát hành và l</a:t>
            </a:r>
            <a:r>
              <a:rPr lang="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 trữ v</a:t>
            </a:r>
            <a:r>
              <a:rPr lang="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bằng phi tập trung.</a:t>
            </a:r>
            <a:endParaRPr lang="en-US" altLang="en-US" sz="3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eaLnBrk="1" hangingPunct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en-US" altLang="en-US" sz="3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eaLnBrk="1" hangingPunct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Chống gian lận tuyệt </a:t>
            </a:r>
            <a:r>
              <a:rPr lang="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ối: Mã hóa bất biến và khóa quyền sở hữu, ng</a:t>
            </a:r>
            <a:r>
              <a:rPr lang="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ă</a:t>
            </a:r>
            <a:r>
              <a:rPr lang="en-US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chặn hoàn toàn việc làm giả hay sửa </a:t>
            </a:r>
            <a:r>
              <a:rPr lang="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ổi dữ liệu.</a:t>
            </a:r>
            <a:endParaRPr lang="en-US" altLang="en-US" sz="3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eaLnBrk="1" hangingPunct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en-US" altLang="en-US" sz="3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eaLnBrk="1" hangingPunct="1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Tối </a:t>
            </a:r>
            <a:r>
              <a:rPr lang="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 chi phí: Giảm phí Gas khi mint bằng mới và miễn phí 100% (0 ETH) cho nhà tuyển dụng khi </a:t>
            </a:r>
            <a:r>
              <a:rPr lang="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</a:t>
            </a:r>
            <a:r>
              <a:rPr lang="en-US" altLang="en-US" sz="30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ối soát.</a:t>
            </a:r>
            <a:endParaRPr lang="en-US" altLang="en-US" sz="3000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Text Box 207"/>
          <p:cNvSpPr txBox="1"/>
          <p:nvPr/>
        </p:nvSpPr>
        <p:spPr>
          <a:xfrm>
            <a:off x="10534015" y="30395545"/>
            <a:ext cx="17567275" cy="9758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Ảnh demo giao diện:</a:t>
            </a:r>
            <a:endParaRPr lang="en-US" sz="2800" b="1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800" b="1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1" name="Shape 158"/>
          <p:cNvSpPr/>
          <p:nvPr/>
        </p:nvSpPr>
        <p:spPr>
          <a:xfrm>
            <a:off x="10382250" y="30167580"/>
            <a:ext cx="635" cy="7616825"/>
          </a:xfrm>
          <a:prstGeom prst="line">
            <a:avLst/>
          </a:prstGeom>
          <a:noFill/>
          <a:ln w="6350">
            <a:solidFill>
              <a:srgbClr val="D0D8EA"/>
            </a:solidFill>
            <a:prstDash val="solid"/>
          </a:ln>
        </p:spPr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2330" y="12746990"/>
            <a:ext cx="15837535" cy="753237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14745335" y="21849080"/>
            <a:ext cx="12439650" cy="4119245"/>
          </a:xfrm>
          <a:prstGeom prst="rect">
            <a:avLst/>
          </a:prstGeom>
        </p:spPr>
        <p:txBody>
          <a:bodyPr>
            <a:noAutofit/>
          </a:bodyPr>
          <a:p>
            <a:pPr marL="514350" indent="-514350">
              <a:lnSpc>
                <a:spcPct val="150000"/>
              </a:lnSpc>
              <a:buAutoNum type="arabicPeriod"/>
            </a:pPr>
            <a:r>
              <a:rPr sz="3000"/>
              <a:t>Tầng Presentation (Frontend): React, Next.js, Tailwind CSS, Web3-Provider (MetaMask Integration).</a:t>
            </a:r>
            <a:endParaRPr sz="300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sz="3000"/>
              <a:t>Tầng Backend (Application Logic): Python, FastAPI, Web3.py, Hashlib (SHA-256 Engine).</a:t>
            </a:r>
            <a:endParaRPr sz="300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sz="3000"/>
              <a:t>Tầng Blockchain (Smart Contract): Solidity, Hardhat, OpenZeppelin (AccessControl, ERC-721 Base).</a:t>
            </a:r>
            <a:endParaRPr sz="300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sz="3000"/>
              <a:t>Tầng Storage (Phi tập trung): IPFS, Pinata Gateway SDK.</a:t>
            </a:r>
            <a:endParaRPr sz="300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sz="3000"/>
              <a:t>Mạng lưới triển khai (Network): Ethereum / Polygon Testnet.</a:t>
            </a:r>
            <a:endParaRPr sz="3000"/>
          </a:p>
        </p:txBody>
      </p:sp>
      <p:pic>
        <p:nvPicPr>
          <p:cNvPr id="8" name="Picture 7" descr="Screenshot 2026-06-04 0825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3520" y="31174055"/>
            <a:ext cx="15893415" cy="868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2399</Words>
  <Application>WPS Presentation</Application>
  <PresentationFormat>Custom</PresentationFormat>
  <Paragraphs>78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SimSun</vt:lpstr>
      <vt:lpstr>Wingdings</vt:lpstr>
      <vt:lpstr>Times New Roman</vt:lpstr>
      <vt:lpstr>Arial Unicode Bold</vt:lpstr>
      <vt:lpstr>Calibri</vt:lpstr>
      <vt:lpstr>Calibri</vt:lpstr>
      <vt:lpstr>Times New Roman</vt:lpstr>
      <vt:lpstr>Arial</vt:lpstr>
      <vt:lpstr>Arial</vt:lpstr>
      <vt:lpstr>Microsoft YaHei</vt:lpstr>
      <vt:lpstr>Arial Unicode MS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WPS_1709019041</cp:lastModifiedBy>
  <cp:revision>86</cp:revision>
  <dcterms:created xsi:type="dcterms:W3CDTF">2023-07-02T07:57:00Z</dcterms:created>
  <dcterms:modified xsi:type="dcterms:W3CDTF">2026-06-04T07:17:13Z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22ED41AE26AD4D8B9223D78B14B2E387_12</vt:lpwstr>
  </property>
</Properties>
</file>